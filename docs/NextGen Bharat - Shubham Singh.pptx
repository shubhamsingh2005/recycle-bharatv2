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60" r:id="rId4"/>
    <p:sldId id="261" r:id="rId5"/>
    <p:sldId id="262" r:id="rId6"/>
    <p:sldId id="264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45F307-BDD6-5620-DB03-B584604C45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The Growing E-Waste Crisis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548CEF-97FC-0985-CBAA-EBC6D28F4B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4C9CF-F227-4439-B4FD-60545BBFDBF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DB5951-E73A-B197-343A-85D347EF57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722B2C-A91E-0A59-456C-F3C21BE07A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95D57-6954-44BA-88BD-A5322F54C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570825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The Growing E-Waste Crisis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66A114-DD00-493B-AE25-9D708DF589B7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18825-C696-41E0-8FE0-68BC87354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504686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54036-D68D-C6B2-D7EB-49D0BF057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F0FD63-FDFA-7F3D-B8C1-0F620EBB5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90503-74B3-1EAA-D6F6-9CC4CD53D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3B037-9605-4579-A402-4D3F7C737B32}" type="datetime1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4402C-599B-0E9C-856B-D2932F2E3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Build For Bharat 2026 - National Innovation Challenege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A44B3-6DCB-4D83-B96A-037D58D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31C6-CE92-4F3D-BF4F-3DAF05636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309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5C407-02AB-EC9F-6FA0-C41EDF73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98835-D10E-2355-DA02-D55475C8F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67906-1B21-6307-D734-202056EF3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DF2E-8C1C-4A64-BA34-5BA81D2390AB}" type="datetime1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6204F-BAE1-FC4A-8AA7-F1083042D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Build For Bharat 2026 - National Innovation Challenege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86264-E0B1-A61C-A9F1-7B4C161A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31C6-CE92-4F3D-BF4F-3DAF05636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478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C5190-6D36-3364-86FF-06F6E392B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438CC-D624-FE0A-09F1-652BC7DFB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4FBB5-2A81-5292-A99D-E53172555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75037-9F21-4D11-B8C6-411D0A103AD1}" type="datetime1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0F21B-E14F-D66E-D5A5-0768E79BD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Build For Bharat 2026 - National Innovation Challenege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793A0-8CF5-66EF-8F5D-8AA91E768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31C6-CE92-4F3D-BF4F-3DAF05636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2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F658F-4F84-771E-4B66-EAC43BBFF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ECEF6-C908-70F4-C354-08F66ADAB6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53B7C7-D1AF-CA79-324A-67C36934A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9A958-A0E1-8E2F-2C56-E1AA21A28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B98D-BFBE-41FE-A975-390F353D92F8}" type="datetime1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CEB02-2FEC-F6EE-0429-33C794A40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Build For Bharat 2026 - National Innovation Challenege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D7DA2-2559-BCFF-04A6-CC75EDE3D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31C6-CE92-4F3D-BF4F-3DAF05636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856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E2200-BEA0-9D2C-0304-CD904F9D3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89FFF-A8C1-851F-5A33-4DF77600C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0C2FF-E489-BFD3-138D-6169D9828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561C5F-9371-C9CD-C779-F50268059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DE2A1A-CBB2-6C31-686E-A191F27443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285F14-C25A-6458-1AF5-6E6685DE2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DAD86-1884-4C22-AD13-8E0EF2AB4923}" type="datetime1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DFBA0B-E2EE-D6A8-755E-A0CC53B32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Build For Bharat 2026 - National Innovation Challenege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4E0E5-5A79-9EEA-681B-CE9CE5FFA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31C6-CE92-4F3D-BF4F-3DAF05636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203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1DEC4-7870-7815-EE90-B3D693B4C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229264-2F78-F447-96BE-BD90BBF69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1FEA-B0BE-4C1A-8725-ECDABB345A9A}" type="datetime1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A87F8-79A4-302E-EADB-8F1ACE3B1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Build For Bharat 2026 - National Innovation Challenege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6FC74F-43BE-9295-700F-B9F736359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31C6-CE92-4F3D-BF4F-3DAF05636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134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761600-A1A6-7406-08CF-EF0FC90A1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0390-5AEC-4EDD-97B2-2DA0BEB38430}" type="datetime1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4BCFA5-6CAF-3999-669C-1DEE1EC06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Build For Bharat 2026 - National Innovation Challenege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0E6C2-5541-79F9-6289-92720321C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31C6-CE92-4F3D-BF4F-3DAF05636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349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CD159-769E-D459-DEA5-6D66D0ECF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534A5-75A6-EAEB-13F3-2A93CD083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5C6A2-A368-6009-80B5-54FFCF6DA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4E335-458A-BD8E-D32D-6F4A1BDD2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A68B-C16B-4C7E-91D6-F54829774374}" type="datetime1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3F9E8-1E0F-B70B-6A5C-D2A204F52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Build For Bharat 2026 - National Innovation Challenege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984849-B774-0285-70B0-041E9A86D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31C6-CE92-4F3D-BF4F-3DAF05636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81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7D4D1-8792-89ED-E0E8-2A70962A5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FA0963-F50D-68C9-4D7A-743593C74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C46356-9A6D-BD26-5786-3DFE210EB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8290C-273A-5E26-6D84-B4BDABBF0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2E41-A3C2-45FF-9E90-C5AF54157082}" type="datetime1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3CF2D4-E52A-CD32-ED25-6E5732EB8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Build For Bharat 2026 - National Innovation Challenege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04CF0-CE90-5DD4-DFF3-37920AFEC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31C6-CE92-4F3D-BF4F-3DAF05636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644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2F3A9-6B48-2DFA-EEDB-E07647B1E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D54A95-FF4C-9DD4-01A1-AFA56F719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EEB47-2FD0-F260-C7A0-FCA530862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844AB-725E-4222-9C5A-5FEF6C61B016}" type="datetime1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D5464-9373-88F2-42BD-8951C6216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Build For Bharat 2026 - National Innovation Challenege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5A379-8368-3DDC-82D5-3925D4808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31C6-CE92-4F3D-BF4F-3DAF05636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335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6505F1-68C6-7ABA-4863-F8AC43B0EE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02966-2591-1304-D173-0E591337D6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60509-1398-D92E-ACB7-AD15E4FC6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0C01F-9F24-490C-B6B3-12869641B51E}" type="datetime1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B98C4-16F4-B090-166B-0871ABAAB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Build For Bharat 2026 - National Innovation Challenege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1F5F6-4623-996B-304F-D01C6F921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31C6-CE92-4F3D-BF4F-3DAF05636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337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2838A1-A4AE-D914-F8F8-E6706A191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E3489-FFCF-D8DF-FE63-0BFFC052B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9FF06-64AA-0E5A-6F72-C750F9807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974A7-5263-420A-B8A9-4237A27EE2ED}" type="datetime1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112B9-430C-587E-E807-59EC47FD1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Build For Bharat 2026 - National Innovation Challenege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24426-F2B4-F2FA-332C-7B04CACD3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D31C6-CE92-4F3D-BF4F-3DAF05636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257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researchgate.net/figure/Global-E-Waste-Generation-and-Recycling-Rates-Source-Global-E-waste-Monitor-2024-64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8F96-6DE8-AEB7-041C-D8E2B7DDC4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284" y="2013626"/>
            <a:ext cx="11624553" cy="1415374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E-Waste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16CD3F-2992-3C89-06FE-D8AFE5A8F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2495" y="3602038"/>
            <a:ext cx="10710152" cy="1655762"/>
          </a:xfrm>
        </p:spPr>
        <p:txBody>
          <a:bodyPr>
            <a:normAutofit/>
          </a:bodyPr>
          <a:lstStyle/>
          <a:p>
            <a:r>
              <a:rPr lang="en-US" i="1" dirty="0"/>
              <a:t>Tracking electronic devices from purchase to recycling using digital identity</a:t>
            </a:r>
            <a:endParaRPr lang="en-IN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73529C-E736-2C81-9AA5-A67C4FB8C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84" y="239773"/>
            <a:ext cx="3229380" cy="956729"/>
          </a:xfrm>
          <a:prstGeom prst="round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9EE649-F7DF-1C05-82BF-0E70595C9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7258" y="239772"/>
            <a:ext cx="1913458" cy="9567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3BEFE1-D56E-A68C-6BCF-C39CCFB46D74}"/>
              </a:ext>
            </a:extLst>
          </p:cNvPr>
          <p:cNvSpPr txBox="1"/>
          <p:nvPr/>
        </p:nvSpPr>
        <p:spPr>
          <a:xfrm>
            <a:off x="311284" y="4973825"/>
            <a:ext cx="44941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 </a:t>
            </a:r>
            <a:r>
              <a:rPr lang="en-IN" i="1" dirty="0"/>
              <a:t>NextGen Bharat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No. :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i="1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i="1" dirty="0"/>
              <a:t>Addressing the Growing E-Waste Crisis ”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D399E6-ACAC-5356-8317-FBA40A7B2E43}"/>
              </a:ext>
            </a:extLst>
          </p:cNvPr>
          <p:cNvSpPr txBox="1"/>
          <p:nvPr/>
        </p:nvSpPr>
        <p:spPr>
          <a:xfrm>
            <a:off x="8619433" y="4973825"/>
            <a:ext cx="30732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Shubham Singh (Team Leader)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Manjot Singh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Abhinab Jana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Abhishek Chaturvedi</a:t>
            </a:r>
            <a:endParaRPr lang="en-IN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3D35E1-BA89-0A33-0910-3F3F8D20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Build For Bharat 2026 - National Innovation Challenege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540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74A93-6F2E-0F43-F1CD-8A387422D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35DA3D-6653-5260-2252-2D10D2B61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84" y="239773"/>
            <a:ext cx="1913458" cy="566877"/>
          </a:xfrm>
          <a:prstGeom prst="round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FA0AC4-498F-F3F5-D2EE-91BA95BC2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4783" y="239773"/>
            <a:ext cx="1335933" cy="667967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C26D07F-BAAA-2FCC-AB4F-924F94AC4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Build For Bharat 2026 - National Innovation Challenege</a:t>
            </a:r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ECD129-68FF-D3EE-7CDD-978C90CC96A2}"/>
              </a:ext>
            </a:extLst>
          </p:cNvPr>
          <p:cNvSpPr txBox="1"/>
          <p:nvPr/>
        </p:nvSpPr>
        <p:spPr>
          <a:xfrm>
            <a:off x="2946669" y="96702"/>
            <a:ext cx="648834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Overview</a:t>
            </a:r>
          </a:p>
          <a:p>
            <a:pPr algn="ctr"/>
            <a:r>
              <a:rPr lang="en-I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Growing E-Waste Crisis</a:t>
            </a:r>
            <a:endParaRPr lang="en-IN" sz="14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AA838F-8F1A-91D1-AFEC-367009EF5B94}"/>
              </a:ext>
            </a:extLst>
          </p:cNvPr>
          <p:cNvSpPr txBox="1"/>
          <p:nvPr/>
        </p:nvSpPr>
        <p:spPr>
          <a:xfrm>
            <a:off x="311284" y="1174634"/>
            <a:ext cx="707486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India’s Growing E-Waste Crisis Needs Immediate Action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is one of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fastest-growing producers of electronic waste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rapid digital adoption, short device lifecycles, and rising consumer demand.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E-Waste Monitor (UN &amp; ITU)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world generated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 million metric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tonnes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e-waste in 2022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22.3% was formally recycled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India alone, e-waste increased by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72% in just 5 years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reaching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~1.75 million metric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tonnes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2023–24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a majority of waste is still handled by the informal sector using unsafe methods.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0D5748-94FD-177D-81AE-5295C9688A46}"/>
              </a:ext>
            </a:extLst>
          </p:cNvPr>
          <p:cNvSpPr txBox="1"/>
          <p:nvPr/>
        </p:nvSpPr>
        <p:spPr>
          <a:xfrm>
            <a:off x="600692" y="5710019"/>
            <a:ext cx="11280024" cy="64633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lack of device-level tracking, citizen awareness, and structured recycling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in severe environmental pollution, health risks, and loss of valuable resources.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17F6125-F5B0-5E86-B45F-D9CA4A6BC32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t="3538"/>
          <a:stretch>
            <a:fillRect/>
          </a:stretch>
        </p:blipFill>
        <p:spPr>
          <a:xfrm>
            <a:off x="7500450" y="1554071"/>
            <a:ext cx="4494566" cy="27567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0A1340C-8FD1-5F77-CEDA-6628C5F7F56E}"/>
              </a:ext>
            </a:extLst>
          </p:cNvPr>
          <p:cNvSpPr txBox="1"/>
          <p:nvPr/>
        </p:nvSpPr>
        <p:spPr>
          <a:xfrm>
            <a:off x="7500450" y="4448175"/>
            <a:ext cx="4494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Source</a:t>
            </a:r>
          </a:p>
          <a:p>
            <a:pPr algn="just"/>
            <a:r>
              <a:rPr lang="en-IN" sz="1000" dirty="0"/>
              <a:t> </a:t>
            </a:r>
            <a:r>
              <a:rPr lang="en-IN" sz="1000" dirty="0">
                <a:hlinkClick r:id="rId5"/>
              </a:rPr>
              <a:t>https://www.researchgate.net/figure/Global-E-Waste-Generation-and-Recycling-Rates-Source-Global-E-waste-Monitor-2024-64</a:t>
            </a:r>
            <a:endParaRPr lang="en-IN" sz="1000" dirty="0"/>
          </a:p>
          <a:p>
            <a:pPr algn="just"/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1799072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FB0B6-B561-ADEE-7ECA-33AD2C5E2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D8DB69-B5B8-D960-7ABD-77E26DBE4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84" y="239773"/>
            <a:ext cx="1913458" cy="566877"/>
          </a:xfrm>
          <a:prstGeom prst="round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56740B-1C95-4650-A5FC-EBCD77535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4783" y="239773"/>
            <a:ext cx="1335933" cy="667967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83252B8-E9C9-E0F5-A16E-6ECBA26B4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Build For Bharat 2026 - National Innovation Challenege</a:t>
            </a:r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C0DDF9-733F-DDA5-D583-0503099298DC}"/>
              </a:ext>
            </a:extLst>
          </p:cNvPr>
          <p:cNvSpPr txBox="1"/>
          <p:nvPr/>
        </p:nvSpPr>
        <p:spPr>
          <a:xfrm>
            <a:off x="3321212" y="136525"/>
            <a:ext cx="593057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Comparison</a:t>
            </a:r>
          </a:p>
          <a:p>
            <a:pPr algn="ctr"/>
            <a:r>
              <a:rPr lang="en-I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 in Existing E-Waste Management</a:t>
            </a:r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093294-36EA-BEB8-77BF-B77665C1E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431033"/>
              </p:ext>
            </p:extLst>
          </p:nvPr>
        </p:nvGraphicFramePr>
        <p:xfrm>
          <a:off x="514350" y="1448216"/>
          <a:ext cx="11163300" cy="29260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790825">
                  <a:extLst>
                    <a:ext uri="{9D8B030D-6E8A-4147-A177-3AD203B41FA5}">
                      <a16:colId xmlns:a16="http://schemas.microsoft.com/office/drawing/2014/main" val="1430788260"/>
                    </a:ext>
                  </a:extLst>
                </a:gridCol>
                <a:gridCol w="2790825">
                  <a:extLst>
                    <a:ext uri="{9D8B030D-6E8A-4147-A177-3AD203B41FA5}">
                      <a16:colId xmlns:a16="http://schemas.microsoft.com/office/drawing/2014/main" val="2645499033"/>
                    </a:ext>
                  </a:extLst>
                </a:gridCol>
                <a:gridCol w="2790825">
                  <a:extLst>
                    <a:ext uri="{9D8B030D-6E8A-4147-A177-3AD203B41FA5}">
                      <a16:colId xmlns:a16="http://schemas.microsoft.com/office/drawing/2014/main" val="3811611625"/>
                    </a:ext>
                  </a:extLst>
                </a:gridCol>
                <a:gridCol w="2790825">
                  <a:extLst>
                    <a:ext uri="{9D8B030D-6E8A-4147-A177-3AD203B41FA5}">
                      <a16:colId xmlns:a16="http://schemas.microsoft.com/office/drawing/2014/main" val="36613586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Aspect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India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United States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China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8879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Device tracking after sale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 device-level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Limited (state / brand programs)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Partial (policy-driven, not universal)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36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Recycling ecosystem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Informal sector dominates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Mostly formal, uneven adoption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Formalizing, informal still exists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5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Citizen guidance &amp; incentives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Very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Take-back &amp; buy-back programs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Govt campaigns, regional variation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8268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Govt data visibility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Fragmented, delayed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State-level, not centralized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Centralized policy data, not real-time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519656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75213B4-2DF2-F914-0B8F-803CD4F1EFBC}"/>
              </a:ext>
            </a:extLst>
          </p:cNvPr>
          <p:cNvSpPr txBox="1"/>
          <p:nvPr/>
        </p:nvSpPr>
        <p:spPr>
          <a:xfrm>
            <a:off x="1758016" y="4906902"/>
            <a:ext cx="95154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lacks device-level visibility and citizen-centric systems compared to global peers, creating a critical gap in responsible e-waste management.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Graphic 10" descr="Lightbulb with solid fill">
            <a:extLst>
              <a:ext uri="{FF2B5EF4-FFF2-40B4-BE49-F238E27FC236}">
                <a16:creationId xmlns:a16="http://schemas.microsoft.com/office/drawing/2014/main" id="{470A8A42-1BEF-79E9-13F2-174490AF15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4593" y="4836805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BC9BFA-E42B-5C0C-88C1-73FBE81DB06F}"/>
              </a:ext>
            </a:extLst>
          </p:cNvPr>
          <p:cNvSpPr txBox="1"/>
          <p:nvPr/>
        </p:nvSpPr>
        <p:spPr>
          <a:xfrm>
            <a:off x="1005544" y="4765942"/>
            <a:ext cx="10515601" cy="10561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4318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398AE-D7DB-FDAA-F541-092DBEA67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1734D8-FD09-FEFF-0F0E-58A1EBAA4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84" y="239773"/>
            <a:ext cx="1913458" cy="566877"/>
          </a:xfrm>
          <a:prstGeom prst="round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D21BA9-905C-270E-C4D8-7C8E35A36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4783" y="239773"/>
            <a:ext cx="1335933" cy="667967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8581AEB-5B6A-DB6B-359F-8E350CC81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Build For Bharat 2026 - National Innovation Challenege</a:t>
            </a:r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84F059-12D3-041D-729D-36B5F7AF5E14}"/>
              </a:ext>
            </a:extLst>
          </p:cNvPr>
          <p:cNvSpPr txBox="1"/>
          <p:nvPr/>
        </p:nvSpPr>
        <p:spPr>
          <a:xfrm>
            <a:off x="3048000" y="157223"/>
            <a:ext cx="650557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Proposed Solution</a:t>
            </a:r>
          </a:p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Product Passport with Incentive-Driven E-Waste Tracking</a:t>
            </a:r>
            <a:endParaRPr lang="en-IN" sz="1400" b="1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38AE1B-F2F9-9F47-B704-7D4C37F854C9}"/>
              </a:ext>
            </a:extLst>
          </p:cNvPr>
          <p:cNvSpPr txBox="1"/>
          <p:nvPr/>
        </p:nvSpPr>
        <p:spPr>
          <a:xfrm>
            <a:off x="409575" y="1147184"/>
            <a:ext cx="110966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Description: </a:t>
            </a:r>
          </a:p>
          <a:p>
            <a:pPr algn="just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We assign every electronic device a digital identity (QR/Unique ID) and connect users, </a:t>
            </a:r>
            <a:r>
              <a:rPr lang="en-US" sz="2000" dirty="0" err="1"/>
              <a:t>kabadi</a:t>
            </a:r>
            <a:r>
              <a:rPr lang="en-US" sz="2000" dirty="0"/>
              <a:t>/collectors, and authorized recyclers through a transparent, incentive-driven tracking system.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The system rewards responsible disposal while enabling real-time visibility for authorities.</a:t>
            </a:r>
          </a:p>
          <a:p>
            <a:pPr algn="just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09A8E1-7AEA-8934-3A52-D8E2E64377E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t="22402" b="14305"/>
          <a:stretch>
            <a:fillRect/>
          </a:stretch>
        </p:blipFill>
        <p:spPr>
          <a:xfrm>
            <a:off x="2767012" y="3197648"/>
            <a:ext cx="4876800" cy="30866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7591B5-6BBB-924C-016B-2B8456F22A08}"/>
              </a:ext>
            </a:extLst>
          </p:cNvPr>
          <p:cNvSpPr txBox="1"/>
          <p:nvPr/>
        </p:nvSpPr>
        <p:spPr>
          <a:xfrm>
            <a:off x="409575" y="3122030"/>
            <a:ext cx="2738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of Solution:</a:t>
            </a:r>
          </a:p>
        </p:txBody>
      </p:sp>
    </p:spTree>
    <p:extLst>
      <p:ext uri="{BB962C8B-B14F-4D97-AF65-F5344CB8AC3E}">
        <p14:creationId xmlns:p14="http://schemas.microsoft.com/office/powerpoint/2010/main" val="61431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218B5-E54F-44A2-B23A-925F76E93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EAC470-29DA-FA49-042D-AF423663C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84" y="239773"/>
            <a:ext cx="1913458" cy="566877"/>
          </a:xfrm>
          <a:prstGeom prst="round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45E248-413D-C90E-9E43-59E8B400E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4783" y="239773"/>
            <a:ext cx="1335933" cy="667967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50BF220-28BB-4132-A920-0FE7EEA77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Build For Bharat 2026 - National Innovation Challenege</a:t>
            </a:r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CFE41B-3EDE-1ECC-D2B0-D2AC9CCF2FAB}"/>
              </a:ext>
            </a:extLst>
          </p:cNvPr>
          <p:cNvSpPr txBox="1"/>
          <p:nvPr/>
        </p:nvSpPr>
        <p:spPr>
          <a:xfrm>
            <a:off x="2619375" y="165688"/>
            <a:ext cx="802004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the System Works (Step-by-Step)</a:t>
            </a:r>
          </a:p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Lifecycle Tracking with Incentives</a:t>
            </a:r>
            <a:endParaRPr lang="en-IN" sz="1400" b="1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367D91-D4D4-3431-469E-7450B9A3B5FD}"/>
              </a:ext>
            </a:extLst>
          </p:cNvPr>
          <p:cNvSpPr txBox="1"/>
          <p:nvPr/>
        </p:nvSpPr>
        <p:spPr>
          <a:xfrm>
            <a:off x="311284" y="1183600"/>
            <a:ext cx="766114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Digital Passport Creation</a:t>
            </a:r>
            <a:br>
              <a:rPr lang="en-US" dirty="0"/>
            </a:br>
            <a:r>
              <a:rPr lang="en-US" dirty="0"/>
              <a:t>Each device is assigned a QR/Unique ID containing basic lifecycle and recyclability data.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User-Initiated Responsible Disposal</a:t>
            </a:r>
            <a:br>
              <a:rPr lang="en-US" dirty="0"/>
            </a:br>
            <a:r>
              <a:rPr lang="en-US" dirty="0"/>
              <a:t>User scans QR to receive recycling guidance and earns </a:t>
            </a:r>
            <a:r>
              <a:rPr lang="en-US" b="1" dirty="0"/>
              <a:t>credit points</a:t>
            </a:r>
            <a:r>
              <a:rPr lang="en-US" dirty="0"/>
              <a:t> for responsible action.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Kabadi</a:t>
            </a:r>
            <a:r>
              <a:rPr lang="en-US" b="1" dirty="0"/>
              <a:t> / Collector Verification</a:t>
            </a:r>
            <a:br>
              <a:rPr lang="en-US" dirty="0"/>
            </a:br>
            <a:r>
              <a:rPr lang="en-US" dirty="0"/>
              <a:t>Collector logs device pickup through the app and receives </a:t>
            </a:r>
            <a:r>
              <a:rPr lang="en-US" b="1" dirty="0"/>
              <a:t>verified payment</a:t>
            </a:r>
            <a:r>
              <a:rPr lang="en-US" dirty="0"/>
              <a:t> for safe collection.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Authorized Recycling &amp; Recovery</a:t>
            </a:r>
            <a:br>
              <a:rPr lang="en-US" dirty="0"/>
            </a:br>
            <a:r>
              <a:rPr lang="en-US" dirty="0"/>
              <a:t>Recycler updates dismantling and material recovery details into the system.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Impact &amp; Compliance Monitoring</a:t>
            </a:r>
            <a:br>
              <a:rPr lang="en-US" dirty="0"/>
            </a:br>
            <a:r>
              <a:rPr lang="en-US" dirty="0"/>
              <a:t>Government dashboard tracks recycling volumes, pollution reduction, and compliance in real time.</a:t>
            </a: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72BB35-3A46-1EC4-4389-43F3846EAF1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l="23194" t="27640" r="20000" b="9721"/>
          <a:stretch>
            <a:fillRect/>
          </a:stretch>
        </p:blipFill>
        <p:spPr>
          <a:xfrm>
            <a:off x="7984990" y="1281112"/>
            <a:ext cx="3895726" cy="429577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50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369FC-5BA0-4F92-197C-FB694B565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CE63C8-1CA5-1284-5287-BEEA012F7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84" y="239773"/>
            <a:ext cx="1913458" cy="566877"/>
          </a:xfrm>
          <a:prstGeom prst="round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398998-4488-BDFF-2761-60407CAE1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4783" y="239773"/>
            <a:ext cx="1335933" cy="667967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64F095D-95A6-CD8B-8442-3E6EBE52F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Build For Bharat 2026 - National Innovation Challenege</a:t>
            </a:r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D2C592-C024-35F6-A68E-BD409FBCEBF4}"/>
              </a:ext>
            </a:extLst>
          </p:cNvPr>
          <p:cNvSpPr txBox="1"/>
          <p:nvPr/>
        </p:nvSpPr>
        <p:spPr>
          <a:xfrm>
            <a:off x="4336915" y="209592"/>
            <a:ext cx="3648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sz="1400" b="1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71B8C7-CD65-6EFD-FAE6-89603FC2D398}"/>
              </a:ext>
            </a:extLst>
          </p:cNvPr>
          <p:cNvSpPr txBox="1"/>
          <p:nvPr/>
        </p:nvSpPr>
        <p:spPr>
          <a:xfrm>
            <a:off x="208029" y="1012150"/>
            <a:ext cx="766114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MVP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React.js (Web Application)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user, collector, and recycler interfaces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Node.js + Express.js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APIs for device tracking, incentives, and lifecycle updates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PostgreSQL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storage for device passports, user actions, and compliance logs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&amp; Identity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QR Codes + Unique Device IDs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low-cost, scalable device identification and tracking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61E536-F80D-0D63-CAA9-E7018AD5DF65}"/>
              </a:ext>
            </a:extLst>
          </p:cNvPr>
          <p:cNvSpPr txBox="1"/>
          <p:nvPr/>
        </p:nvSpPr>
        <p:spPr>
          <a:xfrm>
            <a:off x="198808" y="5147185"/>
            <a:ext cx="1101394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SOLUTION</a:t>
            </a:r>
          </a:p>
          <a:p>
            <a:pPr algn="just"/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 initial implementation is web-based for faster deployment,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 evolve into a mobile application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citizens, collectors, and recyclers with easier access, offline support, and location-based services.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E7BB975-6F5C-F337-55BD-449E1C5C3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4651" y="3031508"/>
            <a:ext cx="1160328" cy="155152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F71D41E-67D1-8BD5-C8F4-0E42E1F62D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23"/>
          <a:stretch>
            <a:fillRect/>
          </a:stretch>
        </p:blipFill>
        <p:spPr>
          <a:xfrm>
            <a:off x="7943245" y="3742440"/>
            <a:ext cx="1255876" cy="124789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BD486B8-A9D7-C7CF-3B39-E02DB1FEE06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0605" b="31318"/>
          <a:stretch>
            <a:fillRect/>
          </a:stretch>
        </p:blipFill>
        <p:spPr>
          <a:xfrm>
            <a:off x="5987376" y="1212506"/>
            <a:ext cx="2452382" cy="93380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CE2041E-5C4B-974A-9231-FFC782FAF89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1872" b="31579"/>
          <a:stretch>
            <a:fillRect/>
          </a:stretch>
        </p:blipFill>
        <p:spPr>
          <a:xfrm>
            <a:off x="6824663" y="2302540"/>
            <a:ext cx="2828925" cy="746025"/>
          </a:xfrm>
          <a:prstGeom prst="rect">
            <a:avLst/>
          </a:prstGeom>
        </p:spPr>
      </p:pic>
      <p:pic>
        <p:nvPicPr>
          <p:cNvPr id="5141" name="Picture 21" descr="Express Js Logo">
            <a:extLst>
              <a:ext uri="{FF2B5EF4-FFF2-40B4-BE49-F238E27FC236}">
                <a16:creationId xmlns:a16="http://schemas.microsoft.com/office/drawing/2014/main" id="{071DB21E-59FB-0574-D500-BDFC4F35C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3195" y="1338498"/>
            <a:ext cx="2543175" cy="158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87E0F08-D56A-2BA7-02F3-C6342E5A95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0337" y="5083084"/>
            <a:ext cx="1176745" cy="762766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DBE1A34-9786-B034-74FA-F9005A4F04F2}"/>
              </a:ext>
            </a:extLst>
          </p:cNvPr>
          <p:cNvCxnSpPr/>
          <p:nvPr/>
        </p:nvCxnSpPr>
        <p:spPr>
          <a:xfrm>
            <a:off x="0" y="5083084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211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46FDE-733C-B280-8EAC-109EFB7FF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E367F1-407B-843E-F9A5-6960F7A8A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84" y="239773"/>
            <a:ext cx="1913458" cy="566877"/>
          </a:xfrm>
          <a:prstGeom prst="round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F5C03D-1762-F542-EA15-045793358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4783" y="239773"/>
            <a:ext cx="1335933" cy="667967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7E55F30-C722-62C6-6A20-DDD79005A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Build For Bharat 2026 - National Innovation Challenege</a:t>
            </a:r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5DB4FA-38B2-8388-DBBB-FA081F46CFB5}"/>
              </a:ext>
            </a:extLst>
          </p:cNvPr>
          <p:cNvSpPr txBox="1"/>
          <p:nvPr/>
        </p:nvSpPr>
        <p:spPr>
          <a:xfrm>
            <a:off x="2619375" y="165688"/>
            <a:ext cx="802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Impact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B9657-9CEB-21EE-C783-A097B0B96122}"/>
              </a:ext>
            </a:extLst>
          </p:cNvPr>
          <p:cNvSpPr txBox="1"/>
          <p:nvPr/>
        </p:nvSpPr>
        <p:spPr>
          <a:xfrm>
            <a:off x="1809750" y="1104900"/>
            <a:ext cx="3829050" cy="3139321"/>
          </a:xfrm>
          <a:prstGeom prst="rect">
            <a:avLst/>
          </a:prstGeom>
          <a:solidFill>
            <a:srgbClr val="FFC000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Device-level digital identity for e-waste lifecycle tracking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Incentive-driven model rewarding citizens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/collectors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informal collectors into a formal, traceable system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dashboards enabling data-driven governance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E4CC11-E545-6D7A-436C-6A058BA386D0}"/>
              </a:ext>
            </a:extLst>
          </p:cNvPr>
          <p:cNvSpPr txBox="1"/>
          <p:nvPr/>
        </p:nvSpPr>
        <p:spPr>
          <a:xfrm>
            <a:off x="7248525" y="1104900"/>
            <a:ext cx="3829050" cy="3139321"/>
          </a:xfrm>
          <a:prstGeom prst="rect">
            <a:avLst/>
          </a:prstGeom>
          <a:solidFill>
            <a:srgbClr val="FFFF00"/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improper disposal and environmental pollution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material recovery and supports circular economy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safer, more dignified livelihoods for collectors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government visibility and regulatory enforcement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FB30B-3014-7E7F-0BCE-B32D86010C4B}"/>
              </a:ext>
            </a:extLst>
          </p:cNvPr>
          <p:cNvSpPr txBox="1"/>
          <p:nvPr/>
        </p:nvSpPr>
        <p:spPr>
          <a:xfrm>
            <a:off x="3286125" y="4010025"/>
            <a:ext cx="5848350" cy="2585323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US" b="1" dirty="0"/>
          </a:p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&amp; National Alignment</a:t>
            </a:r>
          </a:p>
          <a:p>
            <a:endParaRPr lang="en-US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Atmanirbhar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Bharat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Aligns with UN SDG 12: Responsible Consumption and Production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Complements government e-waste regulations with digital transparency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2558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BDE3F-903F-BA38-21D1-E9AF2093F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01865-9BEB-2905-FA6A-F5C92902C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84" y="239773"/>
            <a:ext cx="1913458" cy="566877"/>
          </a:xfrm>
          <a:prstGeom prst="round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8870BD-96DB-BB33-2565-8C1E853E8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4783" y="239773"/>
            <a:ext cx="1335933" cy="667967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20E28E1-0AC4-D0DB-5FE2-B46637D47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Build For Bharat 2026 - National Innovation Challenege</a:t>
            </a:r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64F554-FC30-6D08-76B6-1F73079576B4}"/>
              </a:ext>
            </a:extLst>
          </p:cNvPr>
          <p:cNvSpPr txBox="1"/>
          <p:nvPr/>
        </p:nvSpPr>
        <p:spPr>
          <a:xfrm>
            <a:off x="3893975" y="239773"/>
            <a:ext cx="4981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endParaRPr lang="en-IN" sz="1400" b="1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4E7578-9799-A20A-E7BF-AFE6276CCECC}"/>
              </a:ext>
            </a:extLst>
          </p:cNvPr>
          <p:cNvSpPr txBox="1"/>
          <p:nvPr/>
        </p:nvSpPr>
        <p:spPr>
          <a:xfrm>
            <a:off x="311285" y="1843950"/>
            <a:ext cx="5784716" cy="317009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(MVP Ready)</a:t>
            </a:r>
          </a:p>
          <a:p>
            <a:pPr algn="ctr"/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proven, open-source technologies (QR codes, web apps, cloud backend)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new hardware required, leverages existing devices and workflows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role-based system for users, collectors, recyclers, and authorities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prototyped within hackathon timelines</a:t>
            </a:r>
          </a:p>
          <a:p>
            <a:pPr algn="just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258ECE-664D-1866-3598-1A70A8121B3B}"/>
              </a:ext>
            </a:extLst>
          </p:cNvPr>
          <p:cNvSpPr txBox="1"/>
          <p:nvPr/>
        </p:nvSpPr>
        <p:spPr>
          <a:xfrm>
            <a:off x="6238876" y="1843950"/>
            <a:ext cx="5784716" cy="31700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pPr algn="ctr"/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to scale from city → state → national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device categories (phones, laptops, appliances)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architecture enables high-volume data handling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API-driven design allows integration with municipal and EPR systems</a:t>
            </a:r>
          </a:p>
        </p:txBody>
      </p:sp>
    </p:spTree>
    <p:extLst>
      <p:ext uri="{BB962C8B-B14F-4D97-AF65-F5344CB8AC3E}">
        <p14:creationId xmlns:p14="http://schemas.microsoft.com/office/powerpoint/2010/main" val="1072270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821</Words>
  <Application>Microsoft Office PowerPoint</Application>
  <PresentationFormat>Widescreen</PresentationFormat>
  <Paragraphs>117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Responsible E-Waste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Singh</dc:creator>
  <cp:lastModifiedBy>Shubham Singh</cp:lastModifiedBy>
  <cp:revision>2</cp:revision>
  <dcterms:created xsi:type="dcterms:W3CDTF">2026-01-22T20:06:21Z</dcterms:created>
  <dcterms:modified xsi:type="dcterms:W3CDTF">2026-01-29T08:54:08Z</dcterms:modified>
</cp:coreProperties>
</file>